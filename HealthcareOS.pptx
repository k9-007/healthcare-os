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03327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Avenir Next"/>
              </a:rPr>
              <a:t>HealthcareOS</a:t>
            </a:r>
          </a:p>
          <a:p>
            <a:pPr algn="l">
              <a:spcAft>
                <a:spcPts val="1800"/>
              </a:spcAft>
            </a:pPr>
            <a:r>
              <a:rPr sz="2600" b="0">
                <a:solidFill>
                  <a:srgbClr val="9EE6C9"/>
                </a:solidFill>
                <a:latin typeface="Avenir Next"/>
              </a:rPr>
              <a:t>The AI Care Coordination Layer for Bharat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C7D2E0"/>
                </a:solidFill>
                <a:latin typeface="Avenir Next"/>
              </a:rPr>
              <a:t>An AI voice nurse that calls every discharged patient in their own language —
reminds, listens, escalates, and closes the loop with the doctor.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85800"/>
            <a:ext cx="548640" cy="64008"/>
          </a:xfrm>
          <a:prstGeom prst="rect">
            <a:avLst/>
          </a:prstGeom>
          <a:solidFill>
            <a:srgbClr val="0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E293B"/>
                </a:solidFill>
                <a:latin typeface="Avenir Next"/>
              </a:rPr>
              <a:t>The problem: care ends at the hospital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20240"/>
            <a:ext cx="5120640" cy="1920240"/>
          </a:xfrm>
          <a:prstGeom prst="rect">
            <a:avLst/>
          </a:prstGeom>
          <a:solidFill>
            <a:srgbClr val="F6F9F8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4572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9D6E"/>
                </a:solidFill>
                <a:latin typeface="Avenir Next"/>
              </a:rPr>
              <a:t>Post-discharge is a black hole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475569"/>
                </a:solidFill>
                <a:latin typeface="Avenir Next"/>
              </a:rPr>
              <a:t>Once a patient leaves, doctors have no visibility into whether medicines are taken or symptoms worsen.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920240"/>
            <a:ext cx="5120640" cy="1920240"/>
          </a:xfrm>
          <a:prstGeom prst="rect">
            <a:avLst/>
          </a:prstGeom>
          <a:solidFill>
            <a:srgbClr val="F6F9F8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2148840"/>
            <a:ext cx="4572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9D6E"/>
                </a:solidFill>
                <a:latin typeface="Avenir Next"/>
              </a:rPr>
              <a:t>Follow-up doesn't scale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475569"/>
                </a:solidFill>
                <a:latin typeface="Avenir Next"/>
              </a:rPr>
              <a:t>Manual phone follow-ups are expensive; nurses can't call hundreds of patients twice a day.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160520"/>
            <a:ext cx="5120640" cy="1920240"/>
          </a:xfrm>
          <a:prstGeom prst="rect">
            <a:avLst/>
          </a:prstGeom>
          <a:solidFill>
            <a:srgbClr val="F6F9F8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4572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9D6E"/>
                </a:solidFill>
                <a:latin typeface="Avenir Next"/>
              </a:rPr>
              <a:t>Apps don't work for Bharat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475569"/>
                </a:solidFill>
                <a:latin typeface="Avenir Next"/>
              </a:rPr>
              <a:t>Most patients won't install an app or read English SMS — but everyone answers a phone call in their language.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4160520"/>
            <a:ext cx="5120640" cy="1920240"/>
          </a:xfrm>
          <a:prstGeom prst="rect">
            <a:avLst/>
          </a:prstGeom>
          <a:solidFill>
            <a:srgbClr val="F6F9F8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4389120"/>
            <a:ext cx="4572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9D6E"/>
                </a:solidFill>
                <a:latin typeface="Avenir Next"/>
              </a:rPr>
              <a:t>Missed signals become emergencies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475569"/>
                </a:solidFill>
                <a:latin typeface="Avenir Next"/>
              </a:rPr>
              <a:t>Skipped doses and early symptoms (chest pain, dizziness) surface only at readmission.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85800"/>
            <a:ext cx="548640" cy="64008"/>
          </a:xfrm>
          <a:prstGeom prst="rect">
            <a:avLst/>
          </a:prstGeom>
          <a:solidFill>
            <a:srgbClr val="0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E293B"/>
                </a:solidFill>
                <a:latin typeface="Avenir Next"/>
              </a:rPr>
              <a:t>The solution: a closed-loop AI voice nurse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74519"/>
            <a:ext cx="2011680" cy="713232"/>
          </a:xfrm>
          <a:prstGeom prst="rect">
            <a:avLst/>
          </a:prstGeom>
          <a:solidFill>
            <a:srgbClr val="0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 ·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892807"/>
            <a:ext cx="8229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Avenir Next"/>
              </a:rPr>
              <a:t>Doctor saves a care plan — medicines, dose times, follow-up questions, call window.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779775"/>
            <a:ext cx="2011680" cy="713232"/>
          </a:xfrm>
          <a:prstGeom prst="rect">
            <a:avLst/>
          </a:prstGeom>
          <a:solidFill>
            <a:srgbClr val="0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 · 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798063"/>
            <a:ext cx="8229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Avenir Next"/>
              </a:rPr>
              <a:t>The scheduler auto-places real phone calls at each dose time, speaking in the patient's language (Hindi, Tamil, ...).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685031"/>
            <a:ext cx="2011680" cy="713232"/>
          </a:xfrm>
          <a:prstGeom prst="rect">
            <a:avLst/>
          </a:prstGeom>
          <a:solidFill>
            <a:srgbClr val="0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 · Listen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3703319"/>
            <a:ext cx="8229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Avenir Next"/>
              </a:rPr>
              <a:t>The patient just talks. Speech is transcribed and turned into structured data: took medicine, symptoms, urgency.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590287"/>
            <a:ext cx="2011680" cy="713232"/>
          </a:xfrm>
          <a:prstGeom prst="rect">
            <a:avLst/>
          </a:prstGeom>
          <a:solidFill>
            <a:srgbClr val="0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 · Escalate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4608575"/>
            <a:ext cx="8229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Avenir Next"/>
              </a:rPr>
              <a:t>High-urgency replies (e.g. chest pain) raise an escalation on the doctor's dashboard within seconds.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495543"/>
            <a:ext cx="2011680" cy="713232"/>
          </a:xfrm>
          <a:prstGeom prst="rect">
            <a:avLst/>
          </a:prstGeom>
          <a:solidFill>
            <a:srgbClr val="0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 · Close the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5513831"/>
            <a:ext cx="8229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Avenir Next"/>
              </a:rPr>
              <a:t>The doctor types advice once — it's translated and delivered back as a voice callback. No app, no SMS.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548640" cy="64008"/>
          </a:xfrm>
          <a:prstGeom prst="rect">
            <a:avLst/>
          </a:prstGeom>
          <a:solidFill>
            <a:srgbClr val="0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E293B"/>
                </a:solidFill>
                <a:latin typeface="Avenir Next"/>
              </a:rPr>
              <a:t>Command center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Avenir Next"/>
              </a:rPr>
              <a:t>One glance tells the care team who needs attention right now.</a:t>
            </a:r>
          </a:p>
        </p:txBody>
      </p:sp>
      <p:pic>
        <p:nvPicPr>
          <p:cNvPr id="5" name="Picture 4" descr="image-a14f2233-8a72-46d3-a772-21b8489999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00595"/>
            <a:ext cx="7680960" cy="4245530"/>
          </a:xfrm>
          <a:prstGeom prst="rect">
            <a:avLst/>
          </a:prstGeom>
          <a:ln w="12700">
            <a:solidFill>
              <a:srgbClr val="D8E2DE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595360" y="1783080"/>
            <a:ext cx="31089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475569"/>
                </a:solidFill>
                <a:latin typeface="Avenir Next"/>
              </a:rPr>
              <a:t>•  Live KPIs: adherence %, missed doses, patients at risk, call success.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75569"/>
                </a:solidFill>
                <a:latin typeface="Avenir Next"/>
              </a:rPr>
              <a:t>•  Escalation feed sorted by urgency — chest pain surfaces at the top.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75569"/>
                </a:solidFill>
                <a:latin typeface="Avenir Next"/>
              </a:rPr>
              <a:t>•  One-click acknowledge keeps the queue clean.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75569"/>
                </a:solidFill>
                <a:latin typeface="Avenir Next"/>
              </a:rPr>
              <a:t>•  14-day adherence trend across all active patients.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548640" cy="64008"/>
          </a:xfrm>
          <a:prstGeom prst="rect">
            <a:avLst/>
          </a:prstGeom>
          <a:solidFill>
            <a:srgbClr val="0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E293B"/>
                </a:solidFill>
                <a:latin typeface="Avenir Next"/>
              </a:rPr>
              <a:t>Patient roster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Avenir Next"/>
              </a:rPr>
              <a:t>Every discharged patient, their language, adherence and next scheduled call.</a:t>
            </a:r>
          </a:p>
        </p:txBody>
      </p:sp>
      <p:pic>
        <p:nvPicPr>
          <p:cNvPr id="5" name="Picture 4" descr="image-8f913afd-4aa0-41ed-b695-b8294e82ec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19347"/>
            <a:ext cx="7680960" cy="4208025"/>
          </a:xfrm>
          <a:prstGeom prst="rect">
            <a:avLst/>
          </a:prstGeom>
          <a:ln w="12700">
            <a:solidFill>
              <a:srgbClr val="D8E2DE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595360" y="1783080"/>
            <a:ext cx="31089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475569"/>
                </a:solidFill>
                <a:latin typeface="Avenir Next"/>
              </a:rPr>
              <a:t>•  Filter by Active / At-risk / Recovered.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75569"/>
                </a:solidFill>
                <a:latin typeface="Avenir Next"/>
              </a:rPr>
              <a:t>•  Per-patient adherence bar and risk status computed automatically.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75569"/>
                </a:solidFill>
                <a:latin typeface="Avenir Next"/>
              </a:rPr>
              <a:t>•  “Next call” shows exactly when the AI nurse dials next.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75569"/>
                </a:solidFill>
                <a:latin typeface="Avenir Next"/>
              </a:rPr>
              <a:t>•  Multilingual by design — Hindi, Tamil and more per patient.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548640" cy="64008"/>
          </a:xfrm>
          <a:prstGeom prst="rect">
            <a:avLst/>
          </a:prstGeom>
          <a:solidFill>
            <a:srgbClr val="0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E293B"/>
                </a:solidFill>
                <a:latin typeface="Avenir Next"/>
              </a:rPr>
              <a:t>Care plan → Care+ engine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Avenir Next"/>
              </a:rPr>
              <a:t>The doctor writes the plan once; the scheduler does the rest, every day.</a:t>
            </a:r>
          </a:p>
        </p:txBody>
      </p:sp>
      <p:pic>
        <p:nvPicPr>
          <p:cNvPr id="5" name="Picture 4" descr="image-d339fad9-2f63-44ff-a637-214995a873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15597"/>
            <a:ext cx="7680960" cy="4215526"/>
          </a:xfrm>
          <a:prstGeom prst="rect">
            <a:avLst/>
          </a:prstGeom>
          <a:ln w="12700">
            <a:solidFill>
              <a:srgbClr val="D8E2DE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595360" y="1783080"/>
            <a:ext cx="31089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475569"/>
                </a:solidFill>
                <a:latin typeface="Avenir Next"/>
              </a:rPr>
              <a:t>•  Medicines with dose, times and instructions (“Before Food”).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75569"/>
                </a:solidFill>
                <a:latin typeface="Avenir Next"/>
              </a:rPr>
              <a:t>•  Follow-up questions the AI nurse asks by voice.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75569"/>
                </a:solidFill>
                <a:latin typeface="Avenir Next"/>
              </a:rPr>
              <a:t>•  Call window guarantees no calls at odd hours (patient-local time).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75569"/>
                </a:solidFill>
                <a:latin typeface="Avenir Next"/>
              </a:rPr>
              <a:t>•  Edits re-sync future slots only — placed calls are never rewritten.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548640" cy="64008"/>
          </a:xfrm>
          <a:prstGeom prst="rect">
            <a:avLst/>
          </a:prstGeom>
          <a:solidFill>
            <a:srgbClr val="0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E293B"/>
                </a:solidFill>
                <a:latin typeface="Avenir Next"/>
              </a:rPr>
              <a:t>Calls &amp; the closed loop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Avenir Next"/>
              </a:rPr>
              <a:t>Real Plivo phone calls in, structured clinical data out.</a:t>
            </a:r>
          </a:p>
        </p:txBody>
      </p:sp>
      <p:pic>
        <p:nvPicPr>
          <p:cNvPr id="5" name="Picture 4" descr="image-6b08c9b7-551b-40ff-b9f4-a0c9f316d1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11846"/>
            <a:ext cx="7680960" cy="4223027"/>
          </a:xfrm>
          <a:prstGeom prst="rect">
            <a:avLst/>
          </a:prstGeom>
          <a:ln w="12700">
            <a:solidFill>
              <a:srgbClr val="D8E2DE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595360" y="1783080"/>
            <a:ext cx="31089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475569"/>
                </a:solidFill>
                <a:latin typeface="Avenir Next"/>
              </a:rPr>
              <a:t>•  Each call is transcribed and parsed: took medicine, symptom, urgency.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75569"/>
                </a:solidFill>
                <a:latin typeface="Avenir Next"/>
              </a:rPr>
              <a:t>•  “Chest pain, urgency High” auto-raises an escalation mid-call.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75569"/>
                </a:solidFill>
                <a:latin typeface="Avenir Next"/>
              </a:rPr>
              <a:t>•  Doctor replies in the reply box — delivered as a voice callback in Hindi.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75569"/>
                </a:solidFill>
                <a:latin typeface="Avenir Next"/>
              </a:rPr>
              <a:t>•  Simulation mode lets you demo the whole flow without telephony.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548640" cy="64008"/>
          </a:xfrm>
          <a:prstGeom prst="rect">
            <a:avLst/>
          </a:prstGeom>
          <a:solidFill>
            <a:srgbClr val="0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E293B"/>
                </a:solidFill>
                <a:latin typeface="Avenir Next"/>
              </a:rPr>
              <a:t>Care graph — the patient's full journey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Avenir Next"/>
              </a:rPr>
              <a:t>A single timeline from discharge to recovery: calls, symptoms, alerts, advice.</a:t>
            </a:r>
          </a:p>
        </p:txBody>
      </p:sp>
      <p:pic>
        <p:nvPicPr>
          <p:cNvPr id="5" name="Picture 4" descr="image-ed8cc033-0680-47cd-b631-5fcd02c33e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341"/>
            <a:ext cx="7680960" cy="4298037"/>
          </a:xfrm>
          <a:prstGeom prst="rect">
            <a:avLst/>
          </a:prstGeom>
          <a:ln w="12700">
            <a:solidFill>
              <a:srgbClr val="D8E2DE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595360" y="1783080"/>
            <a:ext cx="31089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475569"/>
                </a:solidFill>
                <a:latin typeface="Avenir Next"/>
              </a:rPr>
              <a:t>•  Every event is logged: care calls, symptom reports, escalations, callbacks.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75569"/>
                </a:solidFill>
                <a:latin typeface="Avenir Next"/>
              </a:rPr>
              <a:t>•  Doctors see cause and effect — advice sent, next call outcome.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75569"/>
                </a:solidFill>
                <a:latin typeface="Avenir Next"/>
              </a:rPr>
              <a:t>•  Perfect audit trail for handovers and clinical review.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85800"/>
            <a:ext cx="548640" cy="64008"/>
          </a:xfrm>
          <a:prstGeom prst="rect">
            <a:avLst/>
          </a:prstGeom>
          <a:solidFill>
            <a:srgbClr val="0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E293B"/>
                </a:solidFill>
                <a:latin typeface="Avenir Next"/>
              </a:rPr>
              <a:t>Under the hood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20240"/>
            <a:ext cx="3429000" cy="4023360"/>
          </a:xfrm>
          <a:prstGeom prst="rect">
            <a:avLst/>
          </a:prstGeom>
          <a:solidFill>
            <a:srgbClr val="F6F9F8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148840"/>
            <a:ext cx="29260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0F9D6E"/>
                </a:solidFill>
                <a:latin typeface="Avenir Next"/>
              </a:rPr>
              <a:t>Voice &amp; language — Sarvam AI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475569"/>
                </a:solidFill>
                <a:latin typeface="Avenir Next"/>
              </a:rPr>
              <a:t>•  LLM for call scripts &amp; reply understanding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475569"/>
                </a:solidFill>
                <a:latin typeface="Avenir Next"/>
              </a:rPr>
              <a:t>•  TTS / STT in Indian languages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475569"/>
                </a:solidFill>
                <a:latin typeface="Avenir Next"/>
              </a:rPr>
              <a:t>•  Translate + language ID for the closed loop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475569"/>
                </a:solidFill>
                <a:latin typeface="Avenir Next"/>
              </a:rPr>
              <a:t>•  Deterministic fallbacks if the API is down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1920240"/>
            <a:ext cx="3429000" cy="4023360"/>
          </a:xfrm>
          <a:prstGeom prst="rect">
            <a:avLst/>
          </a:prstGeom>
          <a:solidFill>
            <a:srgbClr val="F6F9F8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2148840"/>
            <a:ext cx="29260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0F9D6E"/>
                </a:solidFill>
                <a:latin typeface="Avenir Next"/>
              </a:rPr>
              <a:t>Telephony — Plivo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475569"/>
                </a:solidFill>
                <a:latin typeface="Avenir Next"/>
              </a:rPr>
              <a:t>•  Real outbound calls with recorded replies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475569"/>
                </a:solidFill>
                <a:latin typeface="Avenir Next"/>
              </a:rPr>
              <a:t>•  Answer / recording / hangup webhooks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475569"/>
                </a:solidFill>
                <a:latin typeface="Avenir Next"/>
              </a:rPr>
              <a:t>•  Live voice websocket streaming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475569"/>
                </a:solidFill>
                <a:latin typeface="Avenir Next"/>
              </a:rPr>
              <a:t>•  Simulation mode for demos &amp; tests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920240"/>
            <a:ext cx="3429000" cy="4023360"/>
          </a:xfrm>
          <a:prstGeom prst="rect">
            <a:avLst/>
          </a:prstGeom>
          <a:solidFill>
            <a:srgbClr val="F6F9F8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2148840"/>
            <a:ext cx="29260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0F9D6E"/>
                </a:solidFill>
                <a:latin typeface="Avenir Next"/>
              </a:rPr>
              <a:t>Engine — FastAPI + SQLite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475569"/>
                </a:solidFill>
                <a:latin typeface="Avenir Next"/>
              </a:rPr>
              <a:t>•  Cron scheduler: materialize slots, group by time, dial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475569"/>
                </a:solidFill>
                <a:latin typeface="Avenir Next"/>
              </a:rPr>
              <a:t>•  Retries with backoff, call windows, missed-dose events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475569"/>
                </a:solidFill>
                <a:latin typeface="Avenir Next"/>
              </a:rPr>
              <a:t>•  Brain: document Q&amp;A with citations (cite-or-refuse)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475569"/>
                </a:solidFill>
                <a:latin typeface="Avenir Next"/>
              </a:rPr>
              <a:t>•  React frontend, 5-language UI (en/hi/kn/mr/ta)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FFFFFF"/>
                </a:solidFill>
                <a:latin typeface="Avenir Next"/>
              </a:rPr>
              <a:t>Verified end-to-end</a:t>
            </a:r>
          </a:p>
          <a:p>
            <a:pPr algn="l">
              <a:spcAft>
                <a:spcPts val="1600"/>
              </a:spcAft>
            </a:pPr>
            <a:r>
              <a:rPr sz="1700" b="0">
                <a:solidFill>
                  <a:srgbClr val="C7D2E0"/>
                </a:solidFill>
                <a:latin typeface="Avenir Next"/>
              </a:rPr>
              <a:t>Plan → scheduled call → patient reply → structured data → escalation → doctor advice → voice callback.</a:t>
            </a:r>
          </a:p>
          <a:p>
            <a:pPr algn="l">
              <a:spcAft>
                <a:spcPts val="0"/>
              </a:spcAft>
            </a:pPr>
            <a:r>
              <a:rPr sz="1700" b="1">
                <a:solidFill>
                  <a:srgbClr val="9EE6C9"/>
                </a:solidFill>
                <a:latin typeface="Avenir Next"/>
              </a:rPr>
              <a:t>HealthcareOS — no app, no SMS. Just a phone call, in the patient's language.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